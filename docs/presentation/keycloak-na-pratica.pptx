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7ae9d72fae9b6580_4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7ae9d72fae9b6580_4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45903289c83ef87f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45903289c83ef87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7ae9d72fae9b6580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7ae9d72fae9b6580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7ae9d72fae9b6580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7ae9d72fae9b6580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7ae9d72fae9b6580_4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7ae9d72fae9b6580_4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7ae9d72fae9b6580_39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7ae9d72fae9b6580_39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7ae9d72fae9b6580_4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7ae9d72fae9b6580_4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7ae9d72fae9b6580_4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7ae9d72fae9b6580_4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7ae9d72fae9b6580_4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7ae9d72fae9b6580_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7ae9d72fae9b6580_4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7ae9d72fae9b6580_4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7ae9d72fae9b6580_3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7ae9d72fae9b6580_3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45903289c83ef8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45903289c83ef8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7ae9d72fae9b6580_39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7ae9d72fae9b6580_39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45903289c83ef87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45903289c83ef87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45903289c83ef87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45903289c83ef87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7ae9d72fae9b6580_39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7ae9d72fae9b6580_39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7ae9d72fae9b6580_39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7ae9d72fae9b6580_39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7ae9d72fae9b6580_39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h7ae9d72fae9b6580_39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7ae9d72fae9b6580_39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7ae9d72fae9b6580_39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7ae9d72fae9b6580_39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7ae9d72fae9b6580_39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45903289c83ef87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h45903289c83ef87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7ae9d72fae9b6580_39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h7ae9d72fae9b6580_39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45903289c83ef87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h45903289c83ef87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45903289c83ef87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h45903289c83ef87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45903289c83ef87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h45903289c83ef87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45903289c83ef87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h45903289c83ef87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45903289c83ef87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h45903289c83ef87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45903289c83ef87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h45903289c83ef87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7ae9d72fae9b6580_4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h7ae9d72fae9b6580_4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45903289c83ef87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45903289c83ef87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45903289c83ef87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45903289c83ef87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45903289c83ef87f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45903289c83ef87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45903289c83ef87f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h45903289c83ef87f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45903289c83ef87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45903289c83ef87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Relationship Id="rId4" Type="http://schemas.openxmlformats.org/officeDocument/2006/relationships/image" Target="../media/image3.png"/><Relationship Id="rId5" Type="http://schemas.openxmlformats.org/officeDocument/2006/relationships/image" Target="../media/image2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25.jpg"/><Relationship Id="rId5" Type="http://schemas.openxmlformats.org/officeDocument/2006/relationships/image" Target="../media/image2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Keycloak na Prática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Autenticaç</a:t>
            </a:r>
            <a:r>
              <a:rPr lang="pt-PT"/>
              <a:t>ão e Autorização em Aplicações Modernas</a:t>
            </a:r>
            <a:endParaRPr/>
          </a:p>
        </p:txBody>
      </p:sp>
      <p:pic>
        <p:nvPicPr>
          <p:cNvPr id="56" name="Google Shape;56;p13" title="1_9lMClzHqjM35tKGYXrcou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975" y="175400"/>
            <a:ext cx="2806049" cy="153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Layered Angular Ribbon Foot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355481"/>
            <a:ext cx="9144003" cy="3049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Palestrantes</a:t>
            </a:r>
            <a:endParaRPr/>
          </a:p>
        </p:txBody>
      </p:sp>
      <p:pic>
        <p:nvPicPr>
          <p:cNvPr id="63" name="Google Shape;63;p14" title="Untitled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413" y="1152475"/>
            <a:ext cx="3020475" cy="302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Untitl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2113" y="1152475"/>
            <a:ext cx="3020475" cy="302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que ser</a:t>
            </a:r>
            <a:r>
              <a:rPr lang="pt-PT"/>
              <a:t>á abordado?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O que é o Keycloak e onde ele se encaixa.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Os desafios da autenticação em diferentes aplicações.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Autenticação, autorização e login único.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Integração com contas e sistemas externos.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Protocolos, tokens e fluxos de acesso.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Organização de usuários, aplicações e permissões.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Recursos de segurança e personalização.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Configuração e integração na prática.</a:t>
            </a:r>
            <a:endParaRPr/>
          </a:p>
        </p:txBody>
      </p:sp>
      <p:pic>
        <p:nvPicPr>
          <p:cNvPr id="71" name="Google Shape;71;p15" title="imaa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152475"/>
            <a:ext cx="4699125" cy="313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que </a:t>
            </a:r>
            <a:r>
              <a:rPr lang="pt-PT"/>
              <a:t>é o Keycloak?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4738500" cy="37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</a:t>
            </a:r>
            <a:r>
              <a:rPr b="1" lang="pt-PT"/>
              <a:t>Keycloak</a:t>
            </a:r>
            <a:r>
              <a:rPr lang="pt-PT"/>
              <a:t> é uma ferramenta open source de </a:t>
            </a:r>
            <a:r>
              <a:rPr b="1" lang="pt-PT"/>
              <a:t>gerenciamento de identidade e acesso (IAM) </a:t>
            </a:r>
            <a:r>
              <a:rPr lang="pt-PT"/>
              <a:t>que cuida do </a:t>
            </a:r>
            <a:r>
              <a:rPr b="1" lang="pt-PT"/>
              <a:t>login</a:t>
            </a:r>
            <a:r>
              <a:rPr lang="pt-PT"/>
              <a:t> e do </a:t>
            </a:r>
            <a:r>
              <a:rPr b="1" lang="pt-PT"/>
              <a:t>gerenciamento de usuários </a:t>
            </a:r>
            <a:r>
              <a:rPr lang="pt-PT"/>
              <a:t>de aplicações, sem que seja necessário desenvolver toda essa estrutura do zero.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Ele centraliza a autenticação e oferece recursos como: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Gerenciamento de usuários e papéis: </a:t>
            </a:r>
            <a:r>
              <a:rPr lang="pt-PT"/>
              <a:t>administra contas, credenciais, grupos e papéis utilizados no</a:t>
            </a:r>
            <a:r>
              <a:rPr lang="pt-PT"/>
              <a:t> controle de acesso.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Login único (SSO):</a:t>
            </a:r>
            <a:r>
              <a:rPr lang="pt-PT"/>
              <a:t> permite acessar diferentes aplicações a partir de uma única autenticação.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Integração com identidades externas:</a:t>
            </a:r>
            <a:r>
              <a:rPr lang="pt-PT"/>
              <a:t> permite login</a:t>
            </a:r>
            <a:r>
              <a:rPr lang="pt-PT"/>
              <a:t> com provedores como Google e integração com </a:t>
            </a:r>
            <a:r>
              <a:rPr lang="pt-PT"/>
              <a:t>diretórios corporativos, como LDAP e Active Directory.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Autenticação multifator (MFA):</a:t>
            </a:r>
            <a:r>
              <a:rPr lang="pt-PT"/>
              <a:t> aumenta a segurança ao exigir uma confirmação adicional além da senha.</a:t>
            </a:r>
            <a:endParaRPr/>
          </a:p>
        </p:txBody>
      </p:sp>
      <p:pic>
        <p:nvPicPr>
          <p:cNvPr id="78" name="Google Shape;78;p16" title="network-987x1024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8250" y="1303825"/>
            <a:ext cx="3464574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Quem est</a:t>
            </a:r>
            <a:r>
              <a:rPr lang="pt-PT"/>
              <a:t>á por trás do Keycloak?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456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O </a:t>
            </a:r>
            <a:r>
              <a:rPr b="1" lang="pt-PT"/>
              <a:t>Keycloak</a:t>
            </a:r>
            <a:r>
              <a:rPr lang="pt-PT"/>
              <a:t> surgiu na </a:t>
            </a:r>
            <a:r>
              <a:rPr b="1" lang="pt-PT"/>
              <a:t>Red Hat</a:t>
            </a:r>
            <a:r>
              <a:rPr lang="pt-PT"/>
              <a:t> e é desenvolvido por uma comunidade de colaboradores, incluindo profissionais da Red Hat e de outras empresas. Também faz parte da </a:t>
            </a:r>
            <a:r>
              <a:rPr b="1" lang="pt-PT"/>
              <a:t>CNCF (Cloud Native Computing Foundation)</a:t>
            </a:r>
            <a:r>
              <a:rPr lang="pt-PT"/>
              <a:t>, fundação que apoia projetos open source como o Kubernetes.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A </a:t>
            </a:r>
            <a:r>
              <a:rPr b="1" lang="pt-PT"/>
              <a:t>Red Hat </a:t>
            </a:r>
            <a:r>
              <a:rPr lang="pt-PT"/>
              <a:t>é uma referência em software open source empresarial, com atuação em </a:t>
            </a:r>
            <a:r>
              <a:rPr b="1" lang="pt-PT"/>
              <a:t>RHEL, Fedora, OpenShift, Ansible, JBoss/WildFly e Quarkus,</a:t>
            </a:r>
            <a:r>
              <a:rPr lang="pt-PT"/>
              <a:t> além de contribuições ao </a:t>
            </a:r>
            <a:r>
              <a:rPr b="1" lang="pt-PT"/>
              <a:t>kernel Linux e ao Kubernetes</a:t>
            </a:r>
            <a:r>
              <a:rPr lang="pt-PT"/>
              <a:t>. Sua atuação reúne desenvolvimento colaborativo, suporte e manutenção de tecnologias para servidores, aplicações, nuvem e automação.</a:t>
            </a:r>
            <a:endParaRPr/>
          </a:p>
        </p:txBody>
      </p:sp>
      <p:pic>
        <p:nvPicPr>
          <p:cNvPr id="85" name="Google Shape;85;p17" title="red_hat_logo_bi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2873" y="1152475"/>
            <a:ext cx="2635175" cy="28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431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Auth0</a:t>
            </a:r>
            <a:endParaRPr b="1"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Plataforma gerenciada de identidade, da Okta.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Oferece autenticação, login social, MFA e SSO.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Facilita a integração sem precisar operar um servidor de identidade.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Amazon Cognito</a:t>
            </a:r>
            <a:endParaRPr b="1"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Serviço gerenciado de identidade da AWS.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Oferece cadastro, login, MFA e integração com provedores externos.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Integra-se ao ecossistema AWS.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Enquanto o Keycloak pode ser hospedado e administrado pela própria equipe, Auth0 e Cognito são serviços operados pelos fornecedores.</a:t>
            </a:r>
            <a:endParaRPr b="1"/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Alternativas ao Keycloak</a:t>
            </a:r>
            <a:endParaRPr/>
          </a:p>
        </p:txBody>
      </p:sp>
      <p:pic>
        <p:nvPicPr>
          <p:cNvPr id="92" name="Google Shape;92;p18" title="Three Logos in a VS Line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625" y="2106900"/>
            <a:ext cx="4520402" cy="1507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Autenticaç</a:t>
            </a:r>
            <a:r>
              <a:rPr lang="pt-PT"/>
              <a:t>ão x Autorização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/>
              <a:t>Autenticação: “Quem é você?”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É o processo de verificar a identidade de quem está acessando o sistema. Pode utilizar senha, chave de segurança ou uma combinação de fatores.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/>
              <a:t>Autorização: “O que você pode fazer?”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É a decisão sobre quais recursos e operações esse usuário pode acessar, considerando seus papéis, permissões e as regras do sistema.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Estar autenticado não significa ter acesso a tudo: cada operação pode exigir uma autorização específica.</a:t>
            </a:r>
            <a:endParaRPr/>
          </a:p>
        </p:txBody>
      </p:sp>
      <p:pic>
        <p:nvPicPr>
          <p:cNvPr id="99" name="Google Shape;99;p19" title="im31414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74850"/>
            <a:ext cx="4260301" cy="25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Autenticaç</a:t>
            </a:r>
            <a:r>
              <a:rPr lang="pt-PT"/>
              <a:t>ão Tradicional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4431000" cy="3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A própria aplicação é responsável por identificar os usuários e gerenciar suas credenciais.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/>
              <a:t>Características</a:t>
            </a:r>
            <a:endParaRPr b="1"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Login implem</a:t>
            </a:r>
            <a:r>
              <a:rPr lang="pt-PT"/>
              <a:t>e</a:t>
            </a:r>
            <a:r>
              <a:rPr lang="pt-PT"/>
              <a:t>ntado no back-end da aplicação.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Usuários e hashes das senhas armazenados no banco de dados.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Sessões ou tokens mantêm o usuário autenticado.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Desafios</a:t>
            </a:r>
            <a:endParaRPr b="1"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Manutenção:</a:t>
            </a:r>
            <a:r>
              <a:rPr lang="pt-PT"/>
              <a:t> desenvolver cadastro, recuperação de senha e outros recursos de autenticação.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Segurança:</a:t>
            </a:r>
            <a:r>
              <a:rPr lang="pt-PT"/>
              <a:t> proteger credenciais e prevenir ataques ao login.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Escalabilidade entre sistemas:</a:t>
            </a:r>
            <a:r>
              <a:rPr lang="pt-PT"/>
              <a:t> evitar lógica duplicada, contas separadas e políticas diferentes em cada aplicação.</a:t>
            </a:r>
            <a:endParaRPr/>
          </a:p>
        </p:txBody>
      </p:sp>
      <p:pic>
        <p:nvPicPr>
          <p:cNvPr id="106" name="Google Shape;106;p20" title="Authentication-and-Session-Management-Proces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0" y="1264871"/>
            <a:ext cx="3999900" cy="3405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que mudou?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447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 autenticaç</a:t>
            </a:r>
            <a:r>
              <a:rPr lang="pt-PT"/>
              <a:t>ão precisa atender a um ecossistema de aplicações, com tecnologias e necessidades diferentes.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Múltiplas aplicações:</a:t>
            </a:r>
            <a:r>
              <a:rPr lang="pt-PT"/>
              <a:t> sistemas desenvolvidos em diferentes linguagens.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Diferentes plataformas: </a:t>
            </a:r>
            <a:r>
              <a:rPr lang="pt-PT"/>
              <a:t>aplicações client-side, server-side, mobile e APIs.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Identidades de várias fontes:</a:t>
            </a:r>
            <a:r>
              <a:rPr lang="pt-PT"/>
              <a:t> contas próprias, diretórios corporativos e provedores externos.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Experiência integrada:</a:t>
            </a:r>
            <a:r>
              <a:rPr lang="pt-PT"/>
              <a:t> menos logins repetidos ao alternar entre sistemas.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Segurança uniforme:</a:t>
            </a:r>
            <a:r>
              <a:rPr lang="pt-PT"/>
              <a:t> políticas de autenticação e múltiplos fatores em todas as aplicações.</a:t>
            </a:r>
            <a:endParaRPr/>
          </a:p>
        </p:txBody>
      </p:sp>
      <p:pic>
        <p:nvPicPr>
          <p:cNvPr id="113" name="Google Shape;113;p21" title="img-microservi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0" y="1256338"/>
            <a:ext cx="4093275" cy="29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Uma conta, v</a:t>
            </a:r>
            <a:r>
              <a:rPr lang="pt-PT"/>
              <a:t>ários serviços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Uma mesma organização pode oferecer dezenas de serviços: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Google:</a:t>
            </a:r>
            <a:r>
              <a:rPr lang="pt-PT"/>
              <a:t> Gm</a:t>
            </a:r>
            <a:r>
              <a:rPr lang="pt-PT"/>
              <a:t>a</a:t>
            </a:r>
            <a:r>
              <a:rPr lang="pt-PT"/>
              <a:t>il, Drive, YouTube e Agenda.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gov.br:</a:t>
            </a:r>
            <a:r>
              <a:rPr lang="pt-PT"/>
              <a:t> Meu INSS, Carteira de Trabalho Digital e outros serviços públicos.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Santander:</a:t>
            </a:r>
            <a:r>
              <a:rPr lang="pt-PT"/>
              <a:t> consultas, pagamentos, cartões e investimentos.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Se cada aplicação exigisse um login independente, o usuário precisaria se autenticar repetidamente.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Como acessar diferentes serviços sem repetir o login?</a:t>
            </a:r>
            <a:endParaRPr b="1"/>
          </a:p>
        </p:txBody>
      </p:sp>
      <p:pic>
        <p:nvPicPr>
          <p:cNvPr id="120" name="Google Shape;120;p22" title="image3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32131">
            <a:off x="6335175" y="771525"/>
            <a:ext cx="2225199" cy="246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 title="a58bd375ed89f85611af553a32bf4a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26352">
            <a:off x="5244675" y="1549096"/>
            <a:ext cx="1114626" cy="111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 title="google_capa-3-1060x59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63166">
            <a:off x="5065900" y="2349534"/>
            <a:ext cx="3280249" cy="1844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Single Sign On (SSO)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Single Sign-On (SSO)</a:t>
            </a:r>
            <a:r>
              <a:rPr lang="pt-PT"/>
              <a:t> permite que o usuário se autentique uma vez e acesse diferentes aplicações sem informar suas credenciais novamente.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Exemplo: após entrar na conta Google, o usuário pode abrir Gmail, Drive e Agenda aproveitando a sessão existente.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Mais praticidade: menos interrupções para fazer login.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Integração: diferentes aplicações confiam em um provedor de identidade.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Segurança: operações sensíveis ainda podem exigir uma nova confir</a:t>
            </a:r>
            <a:r>
              <a:rPr lang="pt-PT"/>
              <a:t>m</a:t>
            </a:r>
            <a:r>
              <a:rPr lang="pt-PT"/>
              <a:t>ação.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O Keycloak oferece SSO para as aplicações integradas a ele.</a:t>
            </a:r>
            <a:endParaRPr b="1"/>
          </a:p>
        </p:txBody>
      </p:sp>
      <p:pic>
        <p:nvPicPr>
          <p:cNvPr id="129" name="Google Shape;129;p23" title="imagehj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0" y="1017725"/>
            <a:ext cx="39999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Padr</a:t>
            </a:r>
            <a:r>
              <a:rPr lang="pt-PT"/>
              <a:t>ões de integração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491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Keycloak utiliza padrões abertos para integrar aplicações desenvolvidas em diferentes tecnologias.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OAuth 2.0 (autorização):</a:t>
            </a:r>
            <a:r>
              <a:rPr lang="pt-PT"/>
              <a:t> permite conceder acesso limitado a recursos, como APIs.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OpenID Connect (autenticação):</a:t>
            </a:r>
            <a:r>
              <a:rPr lang="pt-PT"/>
              <a:t> acrescenta ao OAuth 2.0 a identificação do usuário e informações sobre seu login.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SAML 2.0 (autenticação federada):</a:t>
            </a:r>
            <a:r>
              <a:rPr lang="pt-PT"/>
              <a:t> permite trocar informações de autenticação entre sistemas, sendo muito utilizado em SSO empresarial.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Esses padrões permitem integrar aplicações sem depender de uma linguagem específica.</a:t>
            </a:r>
            <a:endParaRPr/>
          </a:p>
        </p:txBody>
      </p:sp>
      <p:pic>
        <p:nvPicPr>
          <p:cNvPr id="136" name="Google Shape;136;p24" title="6ce893ab-9ede-40ad-92c1-8821e1b4b44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300" y="1604575"/>
            <a:ext cx="3768300" cy="25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que era feito antes?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Para uma aplicação acessar dados de um usuário em outro serviço, era comum pedir que ele fornecesse seu login e sua senha desse serviço.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/>
              <a:t>Exemplo:</a:t>
            </a:r>
            <a:r>
              <a:rPr lang="pt-PT"/>
              <a:t> um aplicativo </a:t>
            </a:r>
            <a:r>
              <a:rPr lang="pt-PT"/>
              <a:t>solicitava</a:t>
            </a:r>
            <a:r>
              <a:rPr lang="pt-PT"/>
              <a:t> a senha do e-mail para importar os contatos do usuário.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Isso trazia problemas: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Exposição da senha a uma aplicação de terceiros.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Acesso amplo, sem limitar apenas às informações necessárias.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Revogação difícil: muitas vezes, era preciso trocar a senha.</a:t>
            </a:r>
            <a:endParaRPr/>
          </a:p>
        </p:txBody>
      </p:sp>
      <p:pic>
        <p:nvPicPr>
          <p:cNvPr id="143" name="Google Shape;143;p25" title="imagfgf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600" y="1152475"/>
            <a:ext cx="399989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OAuth 2.0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O </a:t>
            </a:r>
            <a:r>
              <a:rPr b="1" lang="pt-PT"/>
              <a:t>OAuth 2.0</a:t>
            </a:r>
            <a:r>
              <a:rPr lang="pt-PT"/>
              <a:t> é um padrão de </a:t>
            </a:r>
            <a:r>
              <a:rPr b="1" lang="pt-PT"/>
              <a:t>autorização</a:t>
            </a:r>
            <a:r>
              <a:rPr lang="pt-PT"/>
              <a:t> que permite a uma aplicação acessar recursos de um serviço sem precisar receber a senha do usuário.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PT"/>
              <a:t>Exemplo:</a:t>
            </a:r>
            <a:r>
              <a:rPr lang="pt-PT"/>
              <a:t> um aplicativo quer importar seus contatos do Google.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Você autoriza o acesso diretamente no Google.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O aplicativo recebe um access token, com acesso limitado aos recursos autorizados.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Utiliza esse token para consultar seus contatos.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Você concede acesso aos seus dados, sem entregar sua senha à aplicação.</a:t>
            </a:r>
            <a:endParaRPr/>
          </a:p>
        </p:txBody>
      </p:sp>
      <p:pic>
        <p:nvPicPr>
          <p:cNvPr id="150" name="Google Shape;150;p26" title="1_zicBcGvY3wPGvTSKe8-vj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9884" y="667200"/>
            <a:ext cx="5013641" cy="438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Pap</a:t>
            </a:r>
            <a:r>
              <a:rPr lang="pt-PT"/>
              <a:t>éis do OAuth 2.0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/>
              <a:t>Resource Owner:</a:t>
            </a:r>
            <a:r>
              <a:rPr lang="pt-PT"/>
              <a:t> quem pode autorizar o acesso aos recursos. Geralmente, é o usuário.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/>
              <a:t>Client:</a:t>
            </a:r>
            <a:r>
              <a:rPr lang="pt-PT"/>
              <a:t> aplicação que solicita acesso aos recursos em nome do usuário ou em seu próprio nome.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/>
              <a:t>Authorization Server:</a:t>
            </a:r>
            <a:r>
              <a:rPr lang="pt-PT"/>
              <a:t> servidor que emite tokens após validar a autorização e, quando necessário, autenticar os participantes.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Resource Server:</a:t>
            </a:r>
            <a:r>
              <a:rPr lang="pt-PT"/>
              <a:t> API que disponibiliza os recursos protegidos e valida o access token.</a:t>
            </a:r>
            <a:endParaRPr/>
          </a:p>
        </p:txBody>
      </p:sp>
      <p:sp>
        <p:nvSpPr>
          <p:cNvPr id="157" name="Google Shape;157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PT"/>
              <a:t>Exemplo:</a:t>
            </a:r>
            <a:r>
              <a:rPr lang="pt-PT"/>
              <a:t> João Pedro </a:t>
            </a:r>
            <a:r>
              <a:rPr b="1" lang="pt-PT"/>
              <a:t>(Resource Owner)</a:t>
            </a:r>
            <a:r>
              <a:rPr lang="pt-PT"/>
              <a:t> utiliza um aplicativo </a:t>
            </a:r>
            <a:r>
              <a:rPr b="1" lang="pt-PT"/>
              <a:t>(Client)</a:t>
            </a:r>
            <a:r>
              <a:rPr lang="pt-PT"/>
              <a:t> que obtém um token no Keycloak </a:t>
            </a:r>
            <a:r>
              <a:rPr b="1" lang="pt-PT"/>
              <a:t>(Authorization Server)</a:t>
            </a:r>
            <a:r>
              <a:rPr lang="pt-PT"/>
              <a:t> para acessar uma API </a:t>
            </a:r>
            <a:r>
              <a:rPr b="1" lang="pt-PT"/>
              <a:t>(Resource Server)</a:t>
            </a:r>
            <a:r>
              <a:rPr lang="pt-PT"/>
              <a:t>.</a:t>
            </a:r>
            <a:endParaRPr/>
          </a:p>
        </p:txBody>
      </p:sp>
      <p:pic>
        <p:nvPicPr>
          <p:cNvPr id="158" name="Google Shape;158;p27" title="imagedfdfdf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7625" y="2354000"/>
            <a:ext cx="3109475" cy="22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Tokens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Access token: acesso aos recursos</a:t>
            </a:r>
            <a:endParaRPr b="1"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É enviado pela aplicação à API.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Representa o acesso concedido, com permissões e validade determinadas.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Pode ser um JWT ou utilizar outro formato.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Refresh token: renovação do acesso</a:t>
            </a:r>
            <a:endParaRPr b="1"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É enviado ao servidor de autorização para solicitar um novo access token.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Permite renovar o acesso sem exigir uma nova interação do usuário a cada expiração.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Não é enviado à API e não está presente em todos os fluxos.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Tokens são credenciais: precisam ser protegidos contra exposição.</a:t>
            </a:r>
            <a:endParaRPr b="1"/>
          </a:p>
        </p:txBody>
      </p:sp>
      <p:pic>
        <p:nvPicPr>
          <p:cNvPr id="165" name="Google Shape;165;p28" title="https___dev-to-uploads.s3.amazonaws.com_uploads_articles_37ftdqul13llbrvfr0z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850" y="774150"/>
            <a:ext cx="3858326" cy="385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Grant Types do OAuth 2.0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/>
              <a:t>Grant types</a:t>
            </a:r>
            <a:r>
              <a:rPr lang="pt-PT"/>
              <a:t> são formas de obter um access token, conforme o cenário da aplicação.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Client Credentials: </a:t>
            </a:r>
            <a:r>
              <a:rPr lang="pt-PT"/>
              <a:t>comunicação entre serviços, sem participação de um usuário.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Implicit Flow:</a:t>
            </a:r>
            <a:r>
              <a:rPr lang="pt-PT"/>
              <a:t> fluxo legado para aplicações no navegador.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Authorization Code com PKCE:</a:t>
            </a:r>
            <a:r>
              <a:rPr lang="pt-PT"/>
              <a:t> aplicações web e mobile com participação do usuário.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pt-PT"/>
              <a:t>Device Authorization Grant:</a:t>
            </a:r>
            <a:r>
              <a:rPr lang="pt-PT"/>
              <a:t> dispositivos com entrada limitada, como Smart TVs.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A escolha depende do tipo de aplicação e de quem ela representa: um usuário ou o próprio serviço.</a:t>
            </a:r>
            <a:endParaRPr b="1"/>
          </a:p>
        </p:txBody>
      </p:sp>
      <p:pic>
        <p:nvPicPr>
          <p:cNvPr id="172" name="Google Shape;172;p29" title="Accolade_by_Edmund_Blair_Leight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187" y="1152475"/>
            <a:ext cx="3014321" cy="3416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Client Credentials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432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Utilizado na </a:t>
            </a:r>
            <a:r>
              <a:rPr b="1" lang="pt-PT"/>
              <a:t>comunicação entre serviços</a:t>
            </a:r>
            <a:r>
              <a:rPr lang="pt-PT"/>
              <a:t>, quando uma aplicação acessa uma API em seu próprio nome, sem participação de um usuário.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Como funciona?</a:t>
            </a:r>
            <a:endParaRPr b="1"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O serviço se autentica no servidor de autorização, por exemplo, com </a:t>
            </a:r>
            <a:r>
              <a:rPr b="1" lang="pt-PT"/>
              <a:t>client ID</a:t>
            </a:r>
            <a:r>
              <a:rPr lang="pt-PT"/>
              <a:t> e </a:t>
            </a:r>
            <a:r>
              <a:rPr b="1" lang="pt-PT"/>
              <a:t>client secret.</a:t>
            </a:r>
            <a:endParaRPr b="1"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Recebe um access token com as permissões concedidas.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Envia </a:t>
            </a:r>
            <a:r>
              <a:rPr lang="pt-PT"/>
              <a:t>o</a:t>
            </a:r>
            <a:r>
              <a:rPr lang="pt-PT"/>
              <a:t> token nas requisições à API.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Exemplo:</a:t>
            </a:r>
            <a:r>
              <a:rPr lang="pt-PT"/>
              <a:t> um serviço de relatórios consulta uma API de vendas para gerar um relatório diário.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As credenciais devem permanecer no servidor, sem exposição no navegador ou no aplicativo mobile.</a:t>
            </a:r>
            <a:endParaRPr b="1"/>
          </a:p>
        </p:txBody>
      </p:sp>
      <p:pic>
        <p:nvPicPr>
          <p:cNvPr id="179" name="Google Shape;179;p30" title="1_6zm0-2sRw67Gqb_TrtJeAg.png"/>
          <p:cNvPicPr preferRelativeResize="0"/>
          <p:nvPr/>
        </p:nvPicPr>
        <p:blipFill rotWithShape="1">
          <a:blip r:embed="rId3">
            <a:alphaModFix/>
          </a:blip>
          <a:srcRect b="3401" l="1876" r="2384" t="3176"/>
          <a:stretch/>
        </p:blipFill>
        <p:spPr>
          <a:xfrm>
            <a:off x="4752575" y="1537900"/>
            <a:ext cx="4137426" cy="26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PT"/>
              <a:t>Implicit 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Fluxo criado para </a:t>
            </a:r>
            <a:r>
              <a:rPr b="1" lang="pt-PT"/>
              <a:t>aplicações executadas no navegador</a:t>
            </a:r>
            <a:r>
              <a:rPr lang="pt-PT"/>
              <a:t>, que recebem o access token diretamente no redirecionamento, sem trocar um código por tokens.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Como funciona?</a:t>
            </a:r>
            <a:endParaRPr b="1"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A aplicação redireciona o usuário ao servidor de autorização.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O usuário faz login e o acesso é autorizado.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O servidor retorna o access token no fragmento da URL.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A aplicação extrai o token e o utiliza para acessar a API.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Limitação:</a:t>
            </a:r>
            <a:r>
              <a:rPr lang="pt-PT"/>
              <a:t> o token fica exposto ao ambiente do navegador e pode ser capturado por scripts maliciosos.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É um fluxo legado:</a:t>
            </a:r>
            <a:r>
              <a:rPr lang="pt-PT"/>
              <a:t> para novas aplicações, prefira </a:t>
            </a:r>
            <a:r>
              <a:rPr b="1" lang="pt-PT"/>
              <a:t>Authorization Code com PKCE</a:t>
            </a:r>
            <a:r>
              <a:rPr lang="pt-PT"/>
              <a:t>.</a:t>
            </a:r>
            <a:endParaRPr/>
          </a:p>
        </p:txBody>
      </p:sp>
      <p:pic>
        <p:nvPicPr>
          <p:cNvPr id="186" name="Google Shape;186;p31" title="imag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88" y="762000"/>
            <a:ext cx="4314825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PT"/>
              <a:t>Authorization Code com PKCE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311700" y="1152475"/>
            <a:ext cx="3954600" cy="35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A aplicação recebe um código de autorização e depois o troca por um access token, sem receber a senha do usuário.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Como funciona?</a:t>
            </a:r>
            <a:endParaRPr b="1"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A aplicação gera um code verifier e envia seu code challenge ao iniciar a autorização.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O usuário faz login no servidor de autorização.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A aplicação recebe um código de autorização pelo redirecionamento.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Envia o código e o code verifier para obter os tokens.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Utiliza o access token para acessar a API.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PKCE:</a:t>
            </a:r>
            <a:r>
              <a:rPr lang="pt-PT"/>
              <a:t> o servidor verifica se o verifier corresponde ao challenge inicial. Assim, interceptar apenas o código não é suficiente para obter os tokens.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Indicado para aplicações web e mobile.</a:t>
            </a:r>
            <a:endParaRPr b="1"/>
          </a:p>
        </p:txBody>
      </p:sp>
      <p:pic>
        <p:nvPicPr>
          <p:cNvPr id="193" name="Google Shape;193;p32" title="image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00" y="1017725"/>
            <a:ext cx="4899149" cy="37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PT"/>
              <a:t>Device Authorization Grant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311700" y="1152475"/>
            <a:ext cx="3696900" cy="37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Utilizado em dispositivos com entrada limitada, como Smart TVs e consoles, permitindo autorizar o acesso pelo celular ou computador.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Como funciona?</a:t>
            </a:r>
            <a:endParaRPr b="1"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O dispositivo solicita a autorização e recebe um device code, um user code e um endereço de verificação.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Exibe o endereço e o user code ao usuário.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O usuário abre o endereço em outro dispositivo, faz login e confirma a autorização.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O dispositivo consulta periodicamente o servidor usando o device code.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PT"/>
              <a:t>Após a aprovação, recebe um access token para acessar a API.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Exemplo:</a:t>
            </a:r>
            <a:r>
              <a:rPr lang="pt-PT"/>
              <a:t> conectar sua conta a um aplicativo na TV sem digitar a senha pelo controle remoto.</a:t>
            </a:r>
            <a:endParaRPr/>
          </a:p>
        </p:txBody>
      </p:sp>
      <p:pic>
        <p:nvPicPr>
          <p:cNvPr id="200" name="Google Shape;200;p33" title="9ff1a207233e56e46be21170935d5f6dabcd563c372fccb5b70f14965ed6ac0a-device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8600" y="1238337"/>
            <a:ext cx="5105001" cy="353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Uma estrutura, v</a:t>
            </a:r>
            <a:r>
              <a:rPr lang="pt-PT"/>
              <a:t>ários cenários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152475"/>
            <a:ext cx="436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Foi justamente o suporte a </a:t>
            </a:r>
            <a:r>
              <a:rPr b="1" lang="pt-PT"/>
              <a:t>diferentes fluxos e cenários de acesso</a:t>
            </a:r>
            <a:r>
              <a:rPr lang="pt-PT"/>
              <a:t>, combinado ao </a:t>
            </a:r>
            <a:r>
              <a:rPr b="1" lang="pt-PT"/>
              <a:t>controle granular de permissões</a:t>
            </a:r>
            <a:r>
              <a:rPr lang="pt-PT"/>
              <a:t>, que tornou o OAuth 2.0 tão revolucionário.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Versatilidade:</a:t>
            </a:r>
            <a:r>
              <a:rPr lang="pt-PT"/>
              <a:t> fluxos para aplicações web, mobile, dispositivos e comunicação entre serviços.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Permissões granulares: </a:t>
            </a:r>
            <a:r>
              <a:rPr lang="pt-PT"/>
              <a:t>escopos delimitam o acesso, como consultar dados sem permitir alterações.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Acesso temporário: </a:t>
            </a:r>
            <a:r>
              <a:rPr lang="pt-PT"/>
              <a:t>tokens com validade definida.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Interoperabilidade:</a:t>
            </a:r>
            <a:r>
              <a:rPr lang="pt-PT"/>
              <a:t> integração entre aplicações de diferentes linguagens e tecnologias.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Uma mesma estrutura para conceder o acesso necessário em cada cenário.</a:t>
            </a:r>
            <a:endParaRPr b="1"/>
          </a:p>
        </p:txBody>
      </p:sp>
      <p:pic>
        <p:nvPicPr>
          <p:cNvPr id="207" name="Google Shape;207;p34" title="imaggfgf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3100" y="1152476"/>
            <a:ext cx="4401800" cy="33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OpenID Connect (OIDC)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O </a:t>
            </a:r>
            <a:r>
              <a:rPr b="1" lang="pt-PT"/>
              <a:t>OpenID Connect</a:t>
            </a:r>
            <a:r>
              <a:rPr lang="pt-PT"/>
              <a:t> é uma camada de </a:t>
            </a:r>
            <a:r>
              <a:rPr b="1" lang="pt-PT"/>
              <a:t>autenticação construída sobre o OAuth 2.0</a:t>
            </a:r>
            <a:r>
              <a:rPr lang="pt-PT"/>
              <a:t>. Ele permite que a aplicação verifique quem fez login e obtenha informações sobre esse usuário.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ID token:</a:t>
            </a:r>
            <a:r>
              <a:rPr lang="pt-PT"/>
              <a:t> informa a identidade do usuário e detalhes da autenticação.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Claims:</a:t>
            </a:r>
            <a:r>
              <a:rPr lang="pt-PT"/>
              <a:t> dados presentes no token, como identificador do usuário e, quando disponibilizados, nome e e-mail.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UserInfo: </a:t>
            </a:r>
            <a:r>
              <a:rPr lang="pt-PT"/>
              <a:t>endpoint para consultar informações adicionais do usuário.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Exemplo:</a:t>
            </a:r>
            <a:r>
              <a:rPr lang="pt-PT"/>
              <a:t> após o login no Keycloak, a aplicação valida o ID token para identificar o usuário. Para chamar uma API protegida, utiliza o access token.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OAuth 2.0 permite acessar recursos; OIDC permite reconhecer quem está acessando.</a:t>
            </a:r>
            <a:endParaRPr b="1"/>
          </a:p>
        </p:txBody>
      </p:sp>
      <p:pic>
        <p:nvPicPr>
          <p:cNvPr id="214" name="Google Shape;214;p35" title="uploaded-image-17624311753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280" y="522400"/>
            <a:ext cx="4030396" cy="409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OAuth 2.0 x OpenID Connect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/>
              <a:t>OAuth 2.0: Autorização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“Qual acesso esta aplicação recebeu?”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Permite acessar recursos protegidos utilizando um access token.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/>
              <a:t>OpenID Connect: Autenticação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“Quem é o usuário que fez login?”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Adiciona ao OAuth 2.0 um ID token e regras para verificar a identidade do usuário.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Eles trabalham juntos: </a:t>
            </a:r>
            <a:r>
              <a:rPr lang="pt-PT"/>
              <a:t>OIDC identifica o usuário; OAuth 2.0 permite o acesso autorizado às APIs.</a:t>
            </a:r>
            <a:endParaRPr/>
          </a:p>
        </p:txBody>
      </p:sp>
      <p:pic>
        <p:nvPicPr>
          <p:cNvPr id="221" name="Google Shape;221;p36" title="imaggfgfgf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152475"/>
            <a:ext cx="4657724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Onde o Keycloak entra nisso?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152475"/>
            <a:ext cx="434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O </a:t>
            </a:r>
            <a:r>
              <a:rPr b="1" lang="pt-PT"/>
              <a:t>Keycloak implementa esses padrões e fluxos,</a:t>
            </a:r>
            <a:r>
              <a:rPr lang="pt-PT"/>
              <a:t> fornecendo a estrutura de identidade que as aplicações utilizam.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No OAuth 2.0:</a:t>
            </a:r>
            <a:r>
              <a:rPr lang="pt-PT"/>
              <a:t> atua como Authorization Server, emitindo tokens para acessar APIs.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No OpenID Connect:</a:t>
            </a:r>
            <a:r>
              <a:rPr lang="pt-PT"/>
              <a:t> atua como provedor de identidade, autenticando usuários e emitindo ID tokens.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Nos grant types:</a:t>
            </a:r>
            <a:r>
              <a:rPr lang="pt-PT"/>
              <a:t> oferece os fluxos para aplicações web, mobile, dispositivos e comunicação entre serviços.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No SSO:</a:t>
            </a:r>
            <a:r>
              <a:rPr lang="pt-PT"/>
              <a:t> mantém uma sessão de autenticação que pode ser aproveitada por diferentes aplicações.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As aplicações são os clients; as APIs são os resource servers, que validam os access tokens e aplicam as regras de acesso.</a:t>
            </a:r>
            <a:endParaRPr b="1"/>
          </a:p>
        </p:txBody>
      </p:sp>
      <p:pic>
        <p:nvPicPr>
          <p:cNvPr id="228" name="Google Shape;228;p37" title="frontend-architecture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5474" y="438250"/>
            <a:ext cx="3845975" cy="426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Realms</a:t>
            </a:r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Um realm é um espaço independente que reúne usuários, aplicações e configurações de autenticação.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Cada realm possui seus próprios: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Usuários, grupos e roles.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Clients: aplicações e serviços integrados.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Políticas de senha e fluxos de autenticação.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Provedores de identidade e fontes de usuários.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Exemplo:</a:t>
            </a:r>
            <a:r>
              <a:rPr lang="pt-PT"/>
              <a:t> o realm faculdade pode reunir o portal acadêmico e o sistema da biblioteca, permitindo que compartilhem usuários e utilizem SSO</a:t>
            </a:r>
            <a:r>
              <a:rPr lang="pt-PT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Realms diferentes mantêm contextos de identidade separados.</a:t>
            </a:r>
            <a:endParaRPr b="1"/>
          </a:p>
        </p:txBody>
      </p:sp>
      <p:pic>
        <p:nvPicPr>
          <p:cNvPr id="235" name="Google Shape;235;p38" title="dfd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125" y="1242116"/>
            <a:ext cx="4260299" cy="2840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Clients</a:t>
            </a:r>
            <a:endParaRPr/>
          </a:p>
        </p:txBody>
      </p:sp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311700" y="1152475"/>
            <a:ext cx="4748400" cy="37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Um client representa uma aplicação ou serviço que utiliza o Keycloak para autenticar usuários ou obter autorização para acessar recursos.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Na configuração do client, definimos: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Client ID: </a:t>
            </a:r>
            <a:r>
              <a:rPr lang="pt-PT"/>
              <a:t>identificador da aplicação.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Fluxos habilitados:</a:t>
            </a:r>
            <a:r>
              <a:rPr lang="pt-PT"/>
              <a:t> como Authorization Code ou Client Credentials.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URLs de redirecionamento:</a:t>
            </a:r>
            <a:r>
              <a:rPr lang="pt-PT"/>
              <a:t> destinos permitidos após o login.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Autenticação do client:</a:t>
            </a:r>
            <a:r>
              <a:rPr lang="pt-PT"/>
              <a:t> se a aplicação precisa comprovar sua identidade, por exemplo, com um secret.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Exemplo:</a:t>
            </a:r>
            <a:r>
              <a:rPr lang="pt-PT"/>
              <a:t> no realm faculdade, o portal acadêmico e o sistema da biblioteca podem ser clients diferentes.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Aplicações no navegador e mobile não conseguem manter um client secret em segurança.</a:t>
            </a:r>
            <a:endParaRPr/>
          </a:p>
        </p:txBody>
      </p:sp>
      <p:pic>
        <p:nvPicPr>
          <p:cNvPr id="242" name="Google Shape;242;p39" title="imfgfdfgfages.png"/>
          <p:cNvPicPr preferRelativeResize="0"/>
          <p:nvPr/>
        </p:nvPicPr>
        <p:blipFill rotWithShape="1">
          <a:blip r:embed="rId3">
            <a:alphaModFix/>
          </a:blip>
          <a:srcRect b="1990" l="1022" r="3476" t="0"/>
          <a:stretch/>
        </p:blipFill>
        <p:spPr>
          <a:xfrm>
            <a:off x="5119625" y="1444800"/>
            <a:ext cx="3954000" cy="31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Client Scopes</a:t>
            </a:r>
            <a:endParaRPr/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311700" y="1152475"/>
            <a:ext cx="43020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Client scopes agrupam configurações que definem quais informações e roles podem aparecer nos tokens. Eles podem ser reutilizados por diferentes clients.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Protocol mappers:</a:t>
            </a:r>
            <a:r>
              <a:rPr lang="pt-PT"/>
              <a:t> adicionam claims aos tokens, como nome, e-mail ou atributos personalizados.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Role scope mappings:</a:t>
            </a:r>
            <a:r>
              <a:rPr lang="pt-PT"/>
              <a:t> limitam quais roles do usuário podem ser incluídas.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Default scop</a:t>
            </a:r>
            <a:r>
              <a:rPr b="1" lang="pt-PT"/>
              <a:t>e</a:t>
            </a:r>
            <a:r>
              <a:rPr b="1" lang="pt-PT"/>
              <a:t>s:</a:t>
            </a:r>
            <a:r>
              <a:rPr lang="pt-PT"/>
              <a:t> aplicados automaticamente ao client.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Optional scopes:</a:t>
            </a:r>
            <a:r>
              <a:rPr lang="pt-PT"/>
              <a:t> aplicados quando solicitados pelo parâmetro scope.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Exemplo:</a:t>
            </a:r>
            <a:r>
              <a:rPr lang="pt-PT"/>
              <a:t> o client scope email permite incluir o endereço de e-mail e sua situação de verificação nos tokens, conforme os mappers configurados.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Client scopes configuram o conteúdo dos tokens; a API continua responsável por validar o acesso.</a:t>
            </a:r>
            <a:endParaRPr b="1"/>
          </a:p>
        </p:txBody>
      </p:sp>
      <p:pic>
        <p:nvPicPr>
          <p:cNvPr id="249" name="Google Shape;249;p40" title="imdfdfdf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001" y="377213"/>
            <a:ext cx="3839167" cy="438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Usu</a:t>
            </a:r>
            <a:r>
              <a:rPr lang="pt-PT"/>
              <a:t>ários, grupos e roles</a:t>
            </a:r>
            <a:endParaRPr/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Usuários:</a:t>
            </a:r>
            <a:r>
              <a:rPr lang="pt-PT"/>
              <a:t> representam as pessoas que acessam as aplicações, com seus dados de perfil e credenciais.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Grupos:</a:t>
            </a:r>
            <a:r>
              <a:rPr lang="pt-PT"/>
              <a:t> reúnem usuários com configurações e papéis em comum. As roles atribuídas ao grupo são </a:t>
            </a:r>
            <a:r>
              <a:rPr lang="pt-PT"/>
              <a:t>h</a:t>
            </a:r>
            <a:r>
              <a:rPr lang="pt-PT"/>
              <a:t>erdadas pelos seus membros.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Roles:</a:t>
            </a:r>
            <a:r>
              <a:rPr lang="pt-PT"/>
              <a:t> representam papéis, como </a:t>
            </a:r>
            <a:r>
              <a:rPr lang="pt-PT"/>
              <a:t>usuário</a:t>
            </a:r>
            <a:r>
              <a:rPr lang="pt-PT"/>
              <a:t> e admin, que as aplicações utilizam para controlar o acesso.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Exemplo:</a:t>
            </a:r>
            <a:r>
              <a:rPr lang="pt-PT"/>
              <a:t> o grupo administradores recebe a role admin. Ao adicionar um usuário ao grupo, ele herda essa role, sem precisar atribuí-la individualmente.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As roles podem ser definidas para o realm inteiro ou para um client específico.</a:t>
            </a:r>
            <a:endParaRPr b="1"/>
          </a:p>
        </p:txBody>
      </p:sp>
      <p:pic>
        <p:nvPicPr>
          <p:cNvPr id="256" name="Google Shape;256;p41" title="8df15419-c4f2-485d-993c-e0b2c88f074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9925" y="1432201"/>
            <a:ext cx="4285452" cy="285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Integraç</a:t>
            </a:r>
            <a:r>
              <a:rPr lang="pt-PT"/>
              <a:t>ão com identidades externas</a:t>
            </a:r>
            <a:endParaRPr/>
          </a:p>
        </p:txBody>
      </p:sp>
      <p:sp>
        <p:nvSpPr>
          <p:cNvPr id="262" name="Google Shape;262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O Keycloak pode aproveitar contas que já existem em outros sistemas, evitando um novo cadastro.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Provedores de identidade (IdPs)</a:t>
            </a:r>
            <a:endParaRPr b="1"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Permitem login com contas do Google, Microsoft ou outro provedor.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O provedor externo autentica o usuário, e o Keycloak integra esse login às aplicações.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t-PT"/>
              <a:t>Federaçã</a:t>
            </a:r>
            <a:r>
              <a:rPr b="1" lang="pt-PT"/>
              <a:t>o</a:t>
            </a:r>
            <a:r>
              <a:rPr b="1" lang="pt-PT"/>
              <a:t> de usuários (User Federations)</a:t>
            </a:r>
            <a:endParaRPr b="1"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Conecta o Keycloak a diretórios corporativos, como LDAP e Active Directory.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PT"/>
              <a:t>Permite utilizar as contas que a organização já mantém.</a:t>
            </a:r>
            <a:endParaRPr/>
          </a:p>
        </p:txBody>
      </p:sp>
      <p:pic>
        <p:nvPicPr>
          <p:cNvPr id="263" name="Google Shape;263;p42" title="imasdasda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7438" y="2893800"/>
            <a:ext cx="2738976" cy="167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2" title="im12313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044" y="1317313"/>
            <a:ext cx="3901275" cy="142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2" title="i14134mage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6426" y="3217901"/>
            <a:ext cx="1026900" cy="10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Recursos de Autenticaç</a:t>
            </a:r>
            <a:r>
              <a:rPr lang="pt-PT"/>
              <a:t>ão</a:t>
            </a:r>
            <a:endParaRPr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Além do login, o Keycloak oferece recursos para proteger e gerenciar o acesso: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Autenticação multifator (MFA):</a:t>
            </a:r>
            <a:r>
              <a:rPr lang="pt-PT"/>
              <a:t> exige uma confirmação adicional, como um código de aplicativo autenticador.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Verificação de e-mail:</a:t>
            </a:r>
            <a:r>
              <a:rPr lang="pt-PT"/>
              <a:t> confirma que o usuário tem acesso ao endereço cadastrado.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Recuperação de senha:</a:t>
            </a:r>
            <a:r>
              <a:rPr lang="pt-PT"/>
              <a:t> permite redefinir a senha por um link enviado por e-mail.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Políticas de senha:</a:t>
            </a:r>
            <a:r>
              <a:rPr lang="pt-PT"/>
              <a:t> definem requisitos como tamanho mínimo e histórico de senhas.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Ações obrigatórias:</a:t>
            </a:r>
            <a:r>
              <a:rPr lang="pt-PT"/>
              <a:t> exigem etapas como atualizar a senha ou configurar MFA antes de concluir o login.</a:t>
            </a:r>
            <a:endParaRPr/>
          </a:p>
        </p:txBody>
      </p:sp>
      <p:pic>
        <p:nvPicPr>
          <p:cNvPr id="272" name="Google Shape;272;p43" title="imfdfdfdfd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7350" y="1894387"/>
            <a:ext cx="4526400" cy="19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Temas</a:t>
            </a:r>
            <a:endParaRPr/>
          </a:p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311700" y="1152475"/>
            <a:ext cx="4260300" cy="36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O Keycloak permite adaptar as telas de login, cadastro e recuperação de senha à identidade visual da aplicação.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Existem diferentes formas de personalizar: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Temas prontos:</a:t>
            </a:r>
            <a:r>
              <a:rPr lang="pt-PT"/>
              <a:t> utilizar projetos disponíveis no GitHub, verificando licença e compatibilidade com a versão do Keycloak.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Personalização nativa:</a:t>
            </a:r>
            <a:r>
              <a:rPr lang="pt-PT"/>
              <a:t> modificar estilos, imagens e templates FreeMarker.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Keycloakify:</a:t>
            </a:r>
            <a:r>
              <a:rPr lang="pt-PT"/>
              <a:t> desenvolver interfaces com React e TypeScript, com testes no Storybook ou em um Keycloak local.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O tema é instalado no servidor e selecionado nas configurações do realm. Com Keycloakify, o build gera um JAR para instalação.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O visual muda; a autenticação continua sob responsabilidade do Keycloak.</a:t>
            </a:r>
            <a:endParaRPr b="1"/>
          </a:p>
        </p:txBody>
      </p:sp>
      <p:pic>
        <p:nvPicPr>
          <p:cNvPr id="279" name="Google Shape;279;p44" title="imaghggh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375" y="1413363"/>
            <a:ext cx="3996925" cy="30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Exportaç</a:t>
            </a:r>
            <a:r>
              <a:rPr lang="pt-PT"/>
              <a:t>ão</a:t>
            </a:r>
            <a:endParaRPr/>
          </a:p>
        </p:txBody>
      </p:sp>
      <p:sp>
        <p:nvSpPr>
          <p:cNvPr id="285" name="Google Shape;285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O Keycloak permite exportar e importar realms em arquivos JSON, facilitando a reprodução das configurações em outras instalações.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Reutilização:</a:t>
            </a:r>
            <a:r>
              <a:rPr lang="pt-PT"/>
              <a:t> transportar clients, roles, grupos e outras configurações entre ambientes.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Versionamento: </a:t>
            </a:r>
            <a:r>
              <a:rPr lang="pt-PT"/>
              <a:t>acompanhar alterações na configuração utilizando Git.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Automação:</a:t>
            </a:r>
            <a:r>
              <a:rPr lang="pt-PT"/>
              <a:t> importar um realm previamente configurado ao preparar um ambiente.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t-PT"/>
              <a:t>A exportação pode ser feita pelo painel administrativo, de forma parcial, ou pela linha de comando, com opções mais abrangentes, incluindo usuários.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A exportação não substitui um backup completo do banco de dados.</a:t>
            </a:r>
            <a:endParaRPr/>
          </a:p>
        </p:txBody>
      </p:sp>
      <p:pic>
        <p:nvPicPr>
          <p:cNvPr id="286" name="Google Shape;286;p45" title="keycloak-export-floppy-disk-27224_128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450" y="1230800"/>
            <a:ext cx="4188851" cy="26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Cuidados em produç</a:t>
            </a:r>
            <a:r>
              <a:rPr lang="pt-PT"/>
              <a:t>ão</a:t>
            </a:r>
            <a:endParaRPr/>
          </a:p>
        </p:txBody>
      </p:sp>
      <p:sp>
        <p:nvSpPr>
          <p:cNvPr id="292" name="Google Shape;29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HTTPS: </a:t>
            </a:r>
            <a:r>
              <a:rPr lang="pt-PT"/>
              <a:t>proteger credenciais e tokens durante a comunicação.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Clients bem configurados: </a:t>
            </a:r>
            <a:r>
              <a:rPr lang="pt-PT"/>
              <a:t>restringir URLs de redirecionamento e habilitar apenas os fluxos necessários.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Secrets protegidos: </a:t>
            </a:r>
            <a:r>
              <a:rPr lang="pt-PT"/>
              <a:t>manter credenciais de serviços no servidor, nunca no front-end ou no código público.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Validação na API:</a:t>
            </a:r>
            <a:r>
              <a:rPr lang="pt-PT"/>
              <a:t> verificar assinatura, emissor, audiência, expiração e permissões dos tokens.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PT"/>
              <a:t>Operação confiável:</a:t>
            </a:r>
            <a:r>
              <a:rPr lang="pt-PT"/>
              <a:t> manter atualizações, backups do banco, monitoramento e um plano de recuperação.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PT"/>
              <a:t>Centralizar a autenticação também torna a disponibilidade do Keycloak essencial para novos logins e renovação de tokens.</a:t>
            </a:r>
            <a:endParaRPr b="1"/>
          </a:p>
        </p:txBody>
      </p:sp>
      <p:pic>
        <p:nvPicPr>
          <p:cNvPr id="293" name="Google Shape;293;p46" title="imageddd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914" y="1104075"/>
            <a:ext cx="4403012" cy="29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Demonstraç</a:t>
            </a:r>
            <a:r>
              <a:rPr lang="pt-PT"/>
              <a:t>ão</a:t>
            </a:r>
            <a:endParaRPr/>
          </a:p>
        </p:txBody>
      </p:sp>
      <p:sp>
        <p:nvSpPr>
          <p:cNvPr id="299" name="Google Shape;29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PT"/>
              <a:t>Link:</a:t>
            </a:r>
            <a:r>
              <a:rPr lang="pt-PT"/>
              <a:t> </a:t>
            </a:r>
            <a:r>
              <a:rPr lang="pt-PT" u="sng">
                <a:solidFill>
                  <a:schemeClr val="accent1"/>
                </a:solidFill>
              </a:rPr>
              <a:t>https://github.com/RianErick/keycloak-comsolid</a:t>
            </a:r>
            <a:endParaRPr u="sng">
              <a:solidFill>
                <a:schemeClr val="accent1"/>
              </a:solidFill>
            </a:endParaRPr>
          </a:p>
        </p:txBody>
      </p:sp>
      <p:pic>
        <p:nvPicPr>
          <p:cNvPr id="300" name="Google Shape;300;p47" title="Duke_Wa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46475" y="1995700"/>
            <a:ext cx="1460500" cy="26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7" title="Duke_Wa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7000" y="1940000"/>
            <a:ext cx="1460500" cy="26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2288" y="1887588"/>
            <a:ext cx="2733675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